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notesSlides/notesSlide1.xml" Type="http://schemas.openxmlformats.org/officeDocument/2006/relationships/notesSlide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22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各位评委老师好，我们团队的作品是基于 RISC-V 的高性能 CPU 设计与 FPGA 验证。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项目实现了一个完整的 RV32I 五级流水线处理器，包含分支预测、冒险处理等关键优化，并通过仿真与 FPGA 上板完成全流程验证。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下面我从项目背景、架构设计、关键机制、验证结果和上板演示几个方面进行汇报。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项目背景：RISC-V 是开放的指令集架构，赛题要求基于 RV32I 设计高性能处理器并在 FPGA 上验证。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我们的设计目标覆盖指令集实现、流水线架构、分支预测、基准测试和资源约束五个维度。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全部指标均已达成，其中 FPGA 资源实测 4141 LUT，低于赛题 5K LUT 的约束。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本页介绍流水线的两个核心优化方向：冒险处理与分支预测。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数据冒险通过全旁路转发解决，只有 Load-Use 冲突才需要插入一个周期的停顿。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分支预测采用 2-bit 饱和计数器配合 BTB，预测错误率从最初的 18 万次下降到约 6 万次。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期间最重要的调试成果是解决了预测开启后的指令双重提交问题，这是正确性保障的关键。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总结：我们从指令集、汇编器到流水线架构、分支预测，再到仿真验证与 FPGA 上板，全流程自主完成。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官方测试集、CoreMark 基准、应用演示均通过，资源占用低于赛题约束。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展望方面，如果要冲击 250 次/秒的满分项，需要超标量架构提升 IPC，这是我们后续可以探索的方向。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以上就是我们的全部汇报，感谢各位评委老师。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1.sv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3.sv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297" flipH="false" flipV="false">
            <a:off x="1016004" y="227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5385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016000" y="1524000"/>
            <a:ext cx="1041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 RISC-V 的高性能 CPU 设计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5400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 FPGA 验证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403600"/>
            <a:ext cx="1041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19D78"/>
                </a:solidFill>
                <a:latin typeface="Noto Serif SC"/>
                <a:ea typeface="Noto Serif SC"/>
                <a:cs typeface="Noto Serif SC"/>
                <a:sym typeface="Noto Serif SC"/>
              </a:rPr>
              <a:t>集创汇 2026 七星微杯 · RV32I 五级流水线处理器 · 分支预测与冒险处理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418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521200"/>
            <a:ext cx="1041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参赛团队：XXX（占位）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所属单位：XXX大学（占位）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项目背景与目标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从指令集到可上板处理器：全流程自研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879600"/>
            <a:ext cx="10668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 RISC-V 开放指令集规范，从零实现 RV32I 五级流水线处理器：自研汇编器与工具链、流水线架构设计、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7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分支预测与冒险处理、BRAM 存储子系统，并通过官方测试集、CoreMark 基准与 FPGA 上板完成全流程验证。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62000" y="3378200"/>
          <a:ext cx="10668000" cy="248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7620000"/>
              </a:tblGrid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完成情况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指令集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RV32I 全集（R/I/S/B/U/J 六种编码格式）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微架构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五级流水线 IF/ID/EX/MEM/WB，全旁路转发 + Load-Use 停顿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分支预测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2-bit 饱和计数 + BTB 128 项 + JAL/JALR 预测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基准测试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riscv-tests 40/42 通过，CoreMark 跑分输出，matmul/qsort 应用演示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FPGA 资源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4141 Slice LUT、4 BRAM（Zynq-7020，满足小于 5K LUT）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CPU 微架构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五级流水线：全旁路转发 + 分支预测 + BTB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6350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数据流（实线）与旁路 / 预测反馈（虚线）示意 · 仿真验证 175 cycles 回归全绿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47140" y="3649980"/>
            <a:ext cx="1189990" cy="472440"/>
          </a:xfrm>
          <a:prstGeom prst="roundRect">
            <a:avLst>
              <a:gd name="adj" fmla="val 21505"/>
            </a:avLst>
          </a:prstGeom>
          <a:solidFill>
            <a:srgbClr val="EDF3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430020" y="3783330"/>
            <a:ext cx="82296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IF 取指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318260" y="4215130"/>
            <a:ext cx="102108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imem 读出指令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18260" y="4389120"/>
            <a:ext cx="48006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pc + 4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58870" y="3649980"/>
            <a:ext cx="1189990" cy="472440"/>
          </a:xfrm>
          <a:prstGeom prst="roundRect">
            <a:avLst>
              <a:gd name="adj" fmla="val 21505"/>
            </a:avLst>
          </a:prstGeom>
          <a:solidFill>
            <a:srgbClr val="EDF3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43020" y="3783330"/>
            <a:ext cx="82296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ID 译码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793490" y="4215130"/>
            <a:ext cx="72517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regfile 读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793490" y="4389120"/>
            <a:ext cx="76835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立即数扩展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71870" y="3649980"/>
            <a:ext cx="1189990" cy="472440"/>
          </a:xfrm>
          <a:prstGeom prst="roundRect">
            <a:avLst>
              <a:gd name="adj" fmla="val 21505"/>
            </a:avLst>
          </a:prstGeom>
          <a:solidFill>
            <a:srgbClr val="EDF3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210300" y="3783330"/>
            <a:ext cx="91313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EX 执行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32220" y="4215130"/>
            <a:ext cx="68834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ALU 运算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32220" y="4389120"/>
            <a:ext cx="62865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分支解析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09940" y="3649980"/>
            <a:ext cx="1341120" cy="472440"/>
          </a:xfrm>
          <a:prstGeom prst="roundRect">
            <a:avLst>
              <a:gd name="adj" fmla="val 21505"/>
            </a:avLst>
          </a:prstGeom>
          <a:solidFill>
            <a:srgbClr val="EDF3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505190" y="3783330"/>
            <a:ext cx="115062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MEM 访存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696960" y="4215130"/>
            <a:ext cx="78105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dmem 读写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696960" y="4389120"/>
            <a:ext cx="45847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MMIO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897870" y="3649980"/>
            <a:ext cx="1189990" cy="472440"/>
          </a:xfrm>
          <a:prstGeom prst="roundRect">
            <a:avLst>
              <a:gd name="adj" fmla="val 21505"/>
            </a:avLst>
          </a:prstGeom>
          <a:solidFill>
            <a:srgbClr val="EDF3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1014710" y="3783330"/>
            <a:ext cx="95631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WB 写回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962640" y="4302760"/>
            <a:ext cx="864870" cy="13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ans SC"/>
                <a:ea typeface="Noto Sans SC"/>
                <a:cs typeface="Noto Sans SC"/>
                <a:sym typeface="Noto Sans SC"/>
              </a:rPr>
              <a:t>regfile 写回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2656840" y="3012440"/>
            <a:ext cx="38481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494"/>
                </a:solidFill>
                <a:latin typeface="Noto Sans SC"/>
                <a:ea typeface="Noto Sans SC"/>
                <a:cs typeface="Noto Sans SC"/>
                <a:sym typeface="Noto Sans SC"/>
              </a:rPr>
              <a:t>IF/ID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243846" flipH="false" flipV="false">
            <a:off x="2717800" y="3333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8494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5069840" y="3012440"/>
            <a:ext cx="41656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494"/>
                </a:solidFill>
                <a:latin typeface="Noto Sans SC"/>
                <a:ea typeface="Noto Sans SC"/>
                <a:cs typeface="Noto Sans SC"/>
                <a:sym typeface="Noto Sans SC"/>
              </a:rPr>
              <a:t>ID/EX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5243846" flipH="false" flipV="false">
            <a:off x="5130800" y="3333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8494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sp>
        <p:nvSpPr>
          <p:cNvPr name="AutoShape 29" id="29"/>
          <p:cNvSpPr txBox="true"/>
          <p:nvPr/>
        </p:nvSpPr>
        <p:spPr>
          <a:xfrm rot="0" flipH="false" flipV="false">
            <a:off x="7443470" y="3012440"/>
            <a:ext cx="60960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494"/>
                </a:solidFill>
                <a:latin typeface="Noto Sans SC"/>
                <a:ea typeface="Noto Sans SC"/>
                <a:cs typeface="Noto Sans SC"/>
                <a:sym typeface="Noto Sans SC"/>
              </a:rPr>
              <a:t>EX/MEM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5243846" flipH="false" flipV="false">
            <a:off x="7543800" y="3333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8494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sp>
        <p:nvSpPr>
          <p:cNvPr name="AutoShape 31" id="31"/>
          <p:cNvSpPr txBox="true"/>
          <p:nvPr/>
        </p:nvSpPr>
        <p:spPr>
          <a:xfrm rot="0" flipH="false" flipV="false">
            <a:off x="9856470" y="3012440"/>
            <a:ext cx="63500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494"/>
                </a:solidFill>
                <a:latin typeface="Noto Sans SC"/>
                <a:ea typeface="Noto Sans SC"/>
                <a:cs typeface="Noto Sans SC"/>
                <a:sym typeface="Noto Sans SC"/>
              </a:rPr>
              <a:t>MEM/WB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243846" flipH="false" flipV="false">
            <a:off x="9956800" y="3333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8494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name="Connector 33" id="33"/>
          <p:cNvCxnSpPr/>
          <p:nvPr/>
        </p:nvCxnSpPr>
        <p:spPr>
          <a:xfrm rot="-35697" flipH="false" flipV="false">
            <a:off x="2436528" y="3879850"/>
            <a:ext cx="12230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385BD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34" id="34"/>
          <p:cNvSpPr/>
          <p:nvPr/>
        </p:nvSpPr>
        <p:spPr>
          <a:xfrm rot="0" flipH="false" flipV="false">
            <a:off x="3546348" y="3823335"/>
            <a:ext cx="125730" cy="125730"/>
          </a:xfrm>
          <a:custGeom>
            <a:avLst/>
            <a:gdLst/>
            <a:ahLst/>
            <a:cxnLst/>
            <a:rect r="r" b="b" t="t" l="l"/>
            <a:pathLst>
              <a:path h="125730" w="125730">
                <a:moveTo>
                  <a:pt x="0" y="0"/>
                </a:moveTo>
                <a:lnTo>
                  <a:pt x="125730" y="62865"/>
                </a:lnTo>
                <a:lnTo>
                  <a:pt x="0" y="125730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5" id="35"/>
          <p:cNvCxnSpPr/>
          <p:nvPr/>
        </p:nvCxnSpPr>
        <p:spPr>
          <a:xfrm rot="-35697" flipH="false" flipV="false">
            <a:off x="4849528" y="3879850"/>
            <a:ext cx="12230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385BD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36" id="36"/>
          <p:cNvSpPr/>
          <p:nvPr/>
        </p:nvSpPr>
        <p:spPr>
          <a:xfrm rot="0" flipH="false" flipV="false">
            <a:off x="5959348" y="3823335"/>
            <a:ext cx="125730" cy="125730"/>
          </a:xfrm>
          <a:custGeom>
            <a:avLst/>
            <a:gdLst/>
            <a:ahLst/>
            <a:cxnLst/>
            <a:rect r="r" b="b" t="t" l="l"/>
            <a:pathLst>
              <a:path h="125730" w="125730">
                <a:moveTo>
                  <a:pt x="0" y="0"/>
                </a:moveTo>
                <a:lnTo>
                  <a:pt x="125730" y="62865"/>
                </a:lnTo>
                <a:lnTo>
                  <a:pt x="0" y="125730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7" id="37"/>
          <p:cNvCxnSpPr/>
          <p:nvPr/>
        </p:nvCxnSpPr>
        <p:spPr>
          <a:xfrm rot="-38047" flipH="false" flipV="false">
            <a:off x="7262530" y="3879850"/>
            <a:ext cx="11474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385BD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38" id="38"/>
          <p:cNvSpPr/>
          <p:nvPr/>
        </p:nvSpPr>
        <p:spPr>
          <a:xfrm rot="0" flipH="false" flipV="false">
            <a:off x="8296783" y="3823335"/>
            <a:ext cx="125730" cy="125730"/>
          </a:xfrm>
          <a:custGeom>
            <a:avLst/>
            <a:gdLst/>
            <a:ahLst/>
            <a:cxnLst/>
            <a:rect r="r" b="b" t="t" l="l"/>
            <a:pathLst>
              <a:path h="125730" w="125730">
                <a:moveTo>
                  <a:pt x="0" y="0"/>
                </a:moveTo>
                <a:lnTo>
                  <a:pt x="125730" y="62865"/>
                </a:lnTo>
                <a:lnTo>
                  <a:pt x="0" y="125730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9" id="39"/>
          <p:cNvCxnSpPr/>
          <p:nvPr/>
        </p:nvCxnSpPr>
        <p:spPr>
          <a:xfrm rot="-38047" flipH="false" flipV="false">
            <a:off x="9751095" y="3879850"/>
            <a:ext cx="11474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385BD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40" id="40"/>
          <p:cNvSpPr/>
          <p:nvPr/>
        </p:nvSpPr>
        <p:spPr>
          <a:xfrm rot="0" flipH="false" flipV="false">
            <a:off x="10785348" y="3823335"/>
            <a:ext cx="125730" cy="125730"/>
          </a:xfrm>
          <a:custGeom>
            <a:avLst/>
            <a:gdLst/>
            <a:ahLst/>
            <a:cxnLst/>
            <a:rect r="r" b="b" t="t" l="l"/>
            <a:pathLst>
              <a:path h="125730" w="125730">
                <a:moveTo>
                  <a:pt x="0" y="0"/>
                </a:moveTo>
                <a:lnTo>
                  <a:pt x="125730" y="62865"/>
                </a:lnTo>
                <a:lnTo>
                  <a:pt x="0" y="125730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78840" y="1696720"/>
            <a:ext cx="2814320" cy="822960"/>
          </a:xfrm>
          <a:prstGeom prst="roundRect">
            <a:avLst>
              <a:gd name="adj" fmla="val 12345"/>
            </a:avLst>
          </a:prstGeom>
          <a:solidFill>
            <a:srgbClr val="E7F3EC">
              <a:alpha val="100000"/>
            </a:srgbClr>
          </a:solidFill>
          <a:ln w="12700" cmpd="sng" cap="flat">
            <a:solidFill>
              <a:srgbClr val="519D78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 txBox="true"/>
          <p:nvPr/>
        </p:nvSpPr>
        <p:spPr>
          <a:xfrm rot="0" flipH="false" flipV="false">
            <a:off x="1831340" y="1823720"/>
            <a:ext cx="9080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分支预测器</a:t>
            </a:r>
            <a:endParaRPr lang="en-US" sz="1100"/>
          </a:p>
        </p:txBody>
      </p:sp>
      <p:sp>
        <p:nvSpPr>
          <p:cNvPr name="AutoShape 43" id="43"/>
          <p:cNvSpPr txBox="true"/>
          <p:nvPr/>
        </p:nvSpPr>
        <p:spPr>
          <a:xfrm rot="0" flipH="false" flipV="false">
            <a:off x="1239520" y="2029460"/>
            <a:ext cx="209296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2-bit 饱和计数 + BTB 128</a:t>
            </a:r>
            <a:endParaRPr lang="en-US" sz="1100"/>
          </a:p>
        </p:txBody>
      </p:sp>
      <p:sp>
        <p:nvSpPr>
          <p:cNvPr name="AutoShape 44" id="44"/>
          <p:cNvSpPr txBox="true"/>
          <p:nvPr/>
        </p:nvSpPr>
        <p:spPr>
          <a:xfrm rot="0" flipH="false" flipV="false">
            <a:off x="2161540" y="2236470"/>
            <a:ext cx="2476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项</a:t>
            </a:r>
            <a:endParaRPr lang="en-US" sz="1100"/>
          </a:p>
        </p:txBody>
      </p:sp>
      <p:sp>
        <p:nvSpPr>
          <p:cNvPr name="Freeform 45" id="45"/>
          <p:cNvSpPr/>
          <p:nvPr/>
        </p:nvSpPr>
        <p:spPr>
          <a:xfrm rot="0" flipH="false" flipV="false">
            <a:off x="1841500" y="2525776"/>
            <a:ext cx="444500" cy="1117600"/>
          </a:xfrm>
          <a:custGeom>
            <a:avLst/>
            <a:gdLst/>
            <a:ahLst/>
            <a:cxnLst/>
            <a:rect r="r" b="b" t="t" l="l"/>
            <a:pathLst>
              <a:path h="1117600" w="444500">
                <a:moveTo>
                  <a:pt x="444500" y="0"/>
                </a:moveTo>
                <a:lnTo>
                  <a:pt x="444500" y="812800"/>
                </a:lnTo>
                <a:lnTo>
                  <a:pt x="0" y="812800"/>
                </a:lnTo>
                <a:lnTo>
                  <a:pt x="0" y="1117600"/>
                </a:lnTo>
              </a:path>
            </a:pathLst>
          </a:custGeom>
          <a:solidFill>
            <a:srgbClr val="000000">
              <a:alpha val="0"/>
            </a:srgbClr>
          </a:solidFill>
          <a:ln w="25400" cmpd="sng" cap="flat">
            <a:solidFill>
              <a:srgbClr val="519D78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6" id="46"/>
          <p:cNvSpPr/>
          <p:nvPr/>
        </p:nvSpPr>
        <p:spPr>
          <a:xfrm rot="0" flipH="false" flipV="false">
            <a:off x="1784350" y="35403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114300" y="0"/>
                </a:moveTo>
                <a:lnTo>
                  <a:pt x="5715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519D78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7" id="47"/>
          <p:cNvSpPr/>
          <p:nvPr/>
        </p:nvSpPr>
        <p:spPr>
          <a:xfrm rot="0" flipH="false" flipV="false">
            <a:off x="2286000" y="2549906"/>
            <a:ext cx="4381500" cy="1093470"/>
          </a:xfrm>
          <a:custGeom>
            <a:avLst/>
            <a:gdLst/>
            <a:ahLst/>
            <a:cxnLst/>
            <a:rect r="r" b="b" t="t" l="l"/>
            <a:pathLst>
              <a:path h="1093470" w="4381500">
                <a:moveTo>
                  <a:pt x="4381500" y="1093470"/>
                </a:moveTo>
                <a:lnTo>
                  <a:pt x="4381500" y="1024890"/>
                </a:lnTo>
                <a:moveTo>
                  <a:pt x="4381500" y="967740"/>
                </a:moveTo>
                <a:lnTo>
                  <a:pt x="4381500" y="899160"/>
                </a:lnTo>
                <a:moveTo>
                  <a:pt x="4381500" y="842010"/>
                </a:moveTo>
                <a:lnTo>
                  <a:pt x="4381500" y="773430"/>
                </a:lnTo>
                <a:moveTo>
                  <a:pt x="4381500" y="716280"/>
                </a:moveTo>
                <a:lnTo>
                  <a:pt x="4381500" y="647700"/>
                </a:lnTo>
                <a:moveTo>
                  <a:pt x="4381500" y="590550"/>
                </a:moveTo>
                <a:lnTo>
                  <a:pt x="4381500" y="521970"/>
                </a:lnTo>
                <a:moveTo>
                  <a:pt x="4381500" y="464820"/>
                </a:moveTo>
                <a:lnTo>
                  <a:pt x="4381500" y="396240"/>
                </a:lnTo>
                <a:moveTo>
                  <a:pt x="4381500" y="339090"/>
                </a:moveTo>
                <a:lnTo>
                  <a:pt x="4381500" y="280670"/>
                </a:lnTo>
                <a:lnTo>
                  <a:pt x="4371340" y="280670"/>
                </a:lnTo>
                <a:moveTo>
                  <a:pt x="4314190" y="280670"/>
                </a:moveTo>
                <a:lnTo>
                  <a:pt x="4245610" y="280670"/>
                </a:lnTo>
                <a:moveTo>
                  <a:pt x="4188460" y="280670"/>
                </a:moveTo>
                <a:lnTo>
                  <a:pt x="4119880" y="280670"/>
                </a:lnTo>
                <a:moveTo>
                  <a:pt x="4062730" y="280670"/>
                </a:moveTo>
                <a:lnTo>
                  <a:pt x="3994150" y="280670"/>
                </a:lnTo>
                <a:moveTo>
                  <a:pt x="3937000" y="280670"/>
                </a:moveTo>
                <a:lnTo>
                  <a:pt x="3868420" y="280670"/>
                </a:lnTo>
                <a:moveTo>
                  <a:pt x="3811270" y="280670"/>
                </a:moveTo>
                <a:lnTo>
                  <a:pt x="3742690" y="280670"/>
                </a:lnTo>
                <a:moveTo>
                  <a:pt x="3685540" y="280670"/>
                </a:moveTo>
                <a:lnTo>
                  <a:pt x="3616960" y="280670"/>
                </a:lnTo>
                <a:moveTo>
                  <a:pt x="3559810" y="280670"/>
                </a:moveTo>
                <a:lnTo>
                  <a:pt x="3491230" y="280670"/>
                </a:lnTo>
                <a:moveTo>
                  <a:pt x="3434080" y="280670"/>
                </a:moveTo>
                <a:lnTo>
                  <a:pt x="3365500" y="280670"/>
                </a:lnTo>
                <a:moveTo>
                  <a:pt x="3308350" y="280670"/>
                </a:moveTo>
                <a:lnTo>
                  <a:pt x="3239770" y="280670"/>
                </a:lnTo>
                <a:moveTo>
                  <a:pt x="3182620" y="280670"/>
                </a:moveTo>
                <a:lnTo>
                  <a:pt x="3114040" y="280670"/>
                </a:lnTo>
                <a:moveTo>
                  <a:pt x="3056890" y="280670"/>
                </a:moveTo>
                <a:lnTo>
                  <a:pt x="2988310" y="280670"/>
                </a:lnTo>
                <a:moveTo>
                  <a:pt x="2931160" y="280670"/>
                </a:moveTo>
                <a:lnTo>
                  <a:pt x="2862580" y="280670"/>
                </a:lnTo>
                <a:moveTo>
                  <a:pt x="2805430" y="280670"/>
                </a:moveTo>
                <a:lnTo>
                  <a:pt x="2736850" y="280670"/>
                </a:lnTo>
                <a:moveTo>
                  <a:pt x="2679700" y="280670"/>
                </a:moveTo>
                <a:lnTo>
                  <a:pt x="2611120" y="280670"/>
                </a:lnTo>
                <a:moveTo>
                  <a:pt x="2553970" y="280670"/>
                </a:moveTo>
                <a:lnTo>
                  <a:pt x="2485390" y="280670"/>
                </a:lnTo>
                <a:moveTo>
                  <a:pt x="2428240" y="280670"/>
                </a:moveTo>
                <a:lnTo>
                  <a:pt x="2359660" y="280670"/>
                </a:lnTo>
                <a:moveTo>
                  <a:pt x="2302510" y="280670"/>
                </a:moveTo>
                <a:lnTo>
                  <a:pt x="2233930" y="280670"/>
                </a:lnTo>
                <a:moveTo>
                  <a:pt x="2176780" y="280670"/>
                </a:moveTo>
                <a:lnTo>
                  <a:pt x="2108200" y="280670"/>
                </a:lnTo>
                <a:moveTo>
                  <a:pt x="2051050" y="280670"/>
                </a:moveTo>
                <a:lnTo>
                  <a:pt x="1982470" y="280670"/>
                </a:lnTo>
                <a:moveTo>
                  <a:pt x="1925320" y="280670"/>
                </a:moveTo>
                <a:lnTo>
                  <a:pt x="1856740" y="280670"/>
                </a:lnTo>
                <a:moveTo>
                  <a:pt x="1799590" y="280670"/>
                </a:moveTo>
                <a:lnTo>
                  <a:pt x="1731010" y="280670"/>
                </a:lnTo>
                <a:moveTo>
                  <a:pt x="1673860" y="280670"/>
                </a:moveTo>
                <a:lnTo>
                  <a:pt x="1605280" y="280670"/>
                </a:lnTo>
                <a:moveTo>
                  <a:pt x="1548130" y="280670"/>
                </a:moveTo>
                <a:lnTo>
                  <a:pt x="1479550" y="280670"/>
                </a:lnTo>
                <a:moveTo>
                  <a:pt x="1422400" y="280670"/>
                </a:moveTo>
                <a:lnTo>
                  <a:pt x="1353820" y="280670"/>
                </a:lnTo>
                <a:moveTo>
                  <a:pt x="1296670" y="280670"/>
                </a:moveTo>
                <a:lnTo>
                  <a:pt x="1228090" y="280670"/>
                </a:lnTo>
                <a:moveTo>
                  <a:pt x="1170940" y="280670"/>
                </a:moveTo>
                <a:lnTo>
                  <a:pt x="1102360" y="280670"/>
                </a:lnTo>
                <a:moveTo>
                  <a:pt x="1045210" y="280670"/>
                </a:moveTo>
                <a:lnTo>
                  <a:pt x="976630" y="280670"/>
                </a:lnTo>
                <a:moveTo>
                  <a:pt x="919480" y="280670"/>
                </a:moveTo>
                <a:lnTo>
                  <a:pt x="850900" y="280670"/>
                </a:lnTo>
                <a:moveTo>
                  <a:pt x="793750" y="280670"/>
                </a:moveTo>
                <a:lnTo>
                  <a:pt x="725170" y="280670"/>
                </a:lnTo>
                <a:moveTo>
                  <a:pt x="668020" y="280670"/>
                </a:moveTo>
                <a:lnTo>
                  <a:pt x="599440" y="280670"/>
                </a:lnTo>
                <a:moveTo>
                  <a:pt x="542290" y="280670"/>
                </a:moveTo>
                <a:lnTo>
                  <a:pt x="473710" y="280670"/>
                </a:lnTo>
                <a:moveTo>
                  <a:pt x="416560" y="280670"/>
                </a:moveTo>
                <a:lnTo>
                  <a:pt x="347980" y="280670"/>
                </a:lnTo>
                <a:moveTo>
                  <a:pt x="290830" y="280670"/>
                </a:moveTo>
                <a:lnTo>
                  <a:pt x="222250" y="280670"/>
                </a:lnTo>
                <a:moveTo>
                  <a:pt x="165100" y="280670"/>
                </a:moveTo>
                <a:lnTo>
                  <a:pt x="96520" y="280670"/>
                </a:lnTo>
                <a:moveTo>
                  <a:pt x="39370" y="280670"/>
                </a:moveTo>
                <a:lnTo>
                  <a:pt x="0" y="280670"/>
                </a:lnTo>
                <a:lnTo>
                  <a:pt x="0" y="251460"/>
                </a:lnTo>
                <a:moveTo>
                  <a:pt x="0" y="194310"/>
                </a:moveTo>
                <a:lnTo>
                  <a:pt x="0" y="125730"/>
                </a:lnTo>
                <a:moveTo>
                  <a:pt x="0" y="6858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mpd="sng" cap="flat">
            <a:solidFill>
              <a:srgbClr val="A7B6A1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8" id="48"/>
          <p:cNvSpPr/>
          <p:nvPr/>
        </p:nvSpPr>
        <p:spPr>
          <a:xfrm rot="0" flipH="false" flipV="false">
            <a:off x="2234565" y="2515362"/>
            <a:ext cx="102870" cy="102870"/>
          </a:xfrm>
          <a:custGeom>
            <a:avLst/>
            <a:gdLst/>
            <a:ahLst/>
            <a:cxnLst/>
            <a:rect r="r" b="b" t="t" l="l"/>
            <a:pathLst>
              <a:path h="102870" w="102870">
                <a:moveTo>
                  <a:pt x="0" y="102870"/>
                </a:moveTo>
                <a:lnTo>
                  <a:pt x="51435" y="0"/>
                </a:lnTo>
                <a:lnTo>
                  <a:pt x="102870" y="102870"/>
                </a:lnTo>
                <a:close/>
              </a:path>
            </a:pathLst>
          </a:custGeom>
          <a:solidFill>
            <a:srgbClr val="A7B6A1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9" id="49"/>
          <p:cNvSpPr/>
          <p:nvPr/>
        </p:nvSpPr>
        <p:spPr>
          <a:xfrm rot="0" flipH="false" flipV="false">
            <a:off x="7268845" y="3886200"/>
            <a:ext cx="1134745" cy="0"/>
          </a:xfrm>
          <a:custGeom>
            <a:avLst/>
            <a:gdLst/>
            <a:ahLst/>
            <a:cxnLst/>
            <a:rect r="r" b="b" t="t" l="l"/>
            <a:pathLst>
              <a:path h="0" w="1134745">
                <a:moveTo>
                  <a:pt x="1134745" y="0"/>
                </a:moveTo>
                <a:lnTo>
                  <a:pt x="1066165" y="0"/>
                </a:lnTo>
                <a:moveTo>
                  <a:pt x="1009015" y="0"/>
                </a:moveTo>
                <a:lnTo>
                  <a:pt x="940435" y="0"/>
                </a:lnTo>
                <a:moveTo>
                  <a:pt x="883285" y="0"/>
                </a:moveTo>
                <a:lnTo>
                  <a:pt x="814705" y="0"/>
                </a:lnTo>
                <a:moveTo>
                  <a:pt x="757555" y="0"/>
                </a:moveTo>
                <a:lnTo>
                  <a:pt x="688975" y="0"/>
                </a:lnTo>
                <a:moveTo>
                  <a:pt x="631825" y="0"/>
                </a:moveTo>
                <a:lnTo>
                  <a:pt x="567309" y="0"/>
                </a:lnTo>
                <a:lnTo>
                  <a:pt x="563245" y="0"/>
                </a:lnTo>
                <a:moveTo>
                  <a:pt x="506095" y="0"/>
                </a:moveTo>
                <a:lnTo>
                  <a:pt x="437515" y="0"/>
                </a:lnTo>
                <a:moveTo>
                  <a:pt x="380365" y="0"/>
                </a:moveTo>
                <a:lnTo>
                  <a:pt x="311785" y="0"/>
                </a:lnTo>
                <a:moveTo>
                  <a:pt x="254635" y="0"/>
                </a:moveTo>
                <a:lnTo>
                  <a:pt x="186055" y="0"/>
                </a:lnTo>
                <a:moveTo>
                  <a:pt x="128905" y="0"/>
                </a:moveTo>
                <a:lnTo>
                  <a:pt x="60325" y="0"/>
                </a:lnTo>
                <a:moveTo>
                  <a:pt x="317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mpd="sng" cap="flat">
            <a:solidFill>
              <a:srgbClr val="A7B6A1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0" id="50"/>
          <p:cNvSpPr/>
          <p:nvPr/>
        </p:nvSpPr>
        <p:spPr>
          <a:xfrm rot="0" flipH="false" flipV="false">
            <a:off x="7258558" y="3834765"/>
            <a:ext cx="102870" cy="102870"/>
          </a:xfrm>
          <a:custGeom>
            <a:avLst/>
            <a:gdLst/>
            <a:ahLst/>
            <a:cxnLst/>
            <a:rect r="r" b="b" t="t" l="l"/>
            <a:pathLst>
              <a:path h="102870" w="102870">
                <a:moveTo>
                  <a:pt x="102870" y="102870"/>
                </a:moveTo>
                <a:lnTo>
                  <a:pt x="0" y="51435"/>
                </a:lnTo>
                <a:lnTo>
                  <a:pt x="102870" y="0"/>
                </a:lnTo>
                <a:close/>
              </a:path>
            </a:pathLst>
          </a:custGeom>
          <a:solidFill>
            <a:srgbClr val="A7B6A1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1" id="51"/>
          <p:cNvSpPr/>
          <p:nvPr/>
        </p:nvSpPr>
        <p:spPr>
          <a:xfrm rot="0" flipH="false" flipV="false">
            <a:off x="7303135" y="3886200"/>
            <a:ext cx="3589020" cy="0"/>
          </a:xfrm>
          <a:custGeom>
            <a:avLst/>
            <a:gdLst/>
            <a:ahLst/>
            <a:cxnLst/>
            <a:rect r="r" b="b" t="t" l="l"/>
            <a:pathLst>
              <a:path h="0" w="3589020">
                <a:moveTo>
                  <a:pt x="3589020" y="0"/>
                </a:moveTo>
                <a:lnTo>
                  <a:pt x="3520440" y="0"/>
                </a:lnTo>
                <a:moveTo>
                  <a:pt x="3463290" y="0"/>
                </a:moveTo>
                <a:lnTo>
                  <a:pt x="3394710" y="0"/>
                </a:lnTo>
                <a:moveTo>
                  <a:pt x="3337560" y="0"/>
                </a:moveTo>
                <a:lnTo>
                  <a:pt x="3268980" y="0"/>
                </a:lnTo>
                <a:moveTo>
                  <a:pt x="3211830" y="0"/>
                </a:moveTo>
                <a:lnTo>
                  <a:pt x="3143250" y="0"/>
                </a:lnTo>
                <a:moveTo>
                  <a:pt x="3086100" y="0"/>
                </a:moveTo>
                <a:lnTo>
                  <a:pt x="3017520" y="0"/>
                </a:lnTo>
                <a:moveTo>
                  <a:pt x="2960370" y="0"/>
                </a:moveTo>
                <a:lnTo>
                  <a:pt x="2891790" y="0"/>
                </a:lnTo>
                <a:moveTo>
                  <a:pt x="2834640" y="0"/>
                </a:moveTo>
                <a:lnTo>
                  <a:pt x="2766060" y="0"/>
                </a:lnTo>
                <a:moveTo>
                  <a:pt x="2708910" y="0"/>
                </a:moveTo>
                <a:lnTo>
                  <a:pt x="2640330" y="0"/>
                </a:lnTo>
                <a:moveTo>
                  <a:pt x="2583180" y="0"/>
                </a:moveTo>
                <a:lnTo>
                  <a:pt x="2514600" y="0"/>
                </a:lnTo>
                <a:moveTo>
                  <a:pt x="2457450" y="0"/>
                </a:moveTo>
                <a:lnTo>
                  <a:pt x="2388870" y="0"/>
                </a:lnTo>
                <a:moveTo>
                  <a:pt x="2331720" y="0"/>
                </a:moveTo>
                <a:lnTo>
                  <a:pt x="2263140" y="0"/>
                </a:lnTo>
                <a:moveTo>
                  <a:pt x="2205990" y="0"/>
                </a:moveTo>
                <a:lnTo>
                  <a:pt x="2137410" y="0"/>
                </a:lnTo>
                <a:moveTo>
                  <a:pt x="2080260" y="0"/>
                </a:moveTo>
                <a:lnTo>
                  <a:pt x="2011680" y="0"/>
                </a:lnTo>
                <a:moveTo>
                  <a:pt x="1954530" y="0"/>
                </a:moveTo>
                <a:lnTo>
                  <a:pt x="1885950" y="0"/>
                </a:lnTo>
                <a:moveTo>
                  <a:pt x="1828800" y="0"/>
                </a:moveTo>
                <a:lnTo>
                  <a:pt x="1777365" y="0"/>
                </a:lnTo>
                <a:lnTo>
                  <a:pt x="1760220" y="0"/>
                </a:lnTo>
                <a:moveTo>
                  <a:pt x="1703070" y="0"/>
                </a:moveTo>
                <a:lnTo>
                  <a:pt x="1634490" y="0"/>
                </a:lnTo>
                <a:moveTo>
                  <a:pt x="1577340" y="0"/>
                </a:moveTo>
                <a:lnTo>
                  <a:pt x="1508760" y="0"/>
                </a:lnTo>
                <a:moveTo>
                  <a:pt x="1451610" y="0"/>
                </a:moveTo>
                <a:lnTo>
                  <a:pt x="1383030" y="0"/>
                </a:lnTo>
                <a:moveTo>
                  <a:pt x="1325880" y="0"/>
                </a:moveTo>
                <a:lnTo>
                  <a:pt x="1257300" y="0"/>
                </a:lnTo>
                <a:moveTo>
                  <a:pt x="1200150" y="0"/>
                </a:moveTo>
                <a:lnTo>
                  <a:pt x="1131570" y="0"/>
                </a:lnTo>
                <a:moveTo>
                  <a:pt x="1074420" y="0"/>
                </a:moveTo>
                <a:lnTo>
                  <a:pt x="1005840" y="0"/>
                </a:lnTo>
                <a:moveTo>
                  <a:pt x="948690" y="0"/>
                </a:moveTo>
                <a:lnTo>
                  <a:pt x="880110" y="0"/>
                </a:lnTo>
                <a:moveTo>
                  <a:pt x="822960" y="0"/>
                </a:moveTo>
                <a:lnTo>
                  <a:pt x="754380" y="0"/>
                </a:lnTo>
                <a:moveTo>
                  <a:pt x="697230" y="0"/>
                </a:moveTo>
                <a:lnTo>
                  <a:pt x="628650" y="0"/>
                </a:lnTo>
                <a:moveTo>
                  <a:pt x="571500" y="0"/>
                </a:moveTo>
                <a:lnTo>
                  <a:pt x="502920" y="0"/>
                </a:lnTo>
                <a:moveTo>
                  <a:pt x="445770" y="0"/>
                </a:moveTo>
                <a:lnTo>
                  <a:pt x="377190" y="0"/>
                </a:lnTo>
                <a:moveTo>
                  <a:pt x="320040" y="0"/>
                </a:moveTo>
                <a:lnTo>
                  <a:pt x="251460" y="0"/>
                </a:lnTo>
                <a:moveTo>
                  <a:pt x="194310" y="0"/>
                </a:moveTo>
                <a:lnTo>
                  <a:pt x="125730" y="0"/>
                </a:lnTo>
                <a:moveTo>
                  <a:pt x="68580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mpd="sng" cap="flat">
            <a:solidFill>
              <a:srgbClr val="A7B6A1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2" id="52"/>
          <p:cNvSpPr/>
          <p:nvPr/>
        </p:nvSpPr>
        <p:spPr>
          <a:xfrm rot="0" flipH="false" flipV="false">
            <a:off x="7258558" y="3834765"/>
            <a:ext cx="102870" cy="102870"/>
          </a:xfrm>
          <a:custGeom>
            <a:avLst/>
            <a:gdLst/>
            <a:ahLst/>
            <a:cxnLst/>
            <a:rect r="r" b="b" t="t" l="l"/>
            <a:pathLst>
              <a:path h="102870" w="102870">
                <a:moveTo>
                  <a:pt x="102870" y="102870"/>
                </a:moveTo>
                <a:lnTo>
                  <a:pt x="0" y="51435"/>
                </a:lnTo>
                <a:lnTo>
                  <a:pt x="102870" y="0"/>
                </a:lnTo>
                <a:close/>
              </a:path>
            </a:pathLst>
          </a:custGeom>
          <a:solidFill>
            <a:srgbClr val="A7B6A1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3" id="53"/>
          <p:cNvSpPr/>
          <p:nvPr/>
        </p:nvSpPr>
        <p:spPr>
          <a:xfrm rot="0" flipH="false" flipV="false">
            <a:off x="2474595" y="3886200"/>
            <a:ext cx="1178560" cy="0"/>
          </a:xfrm>
          <a:custGeom>
            <a:avLst/>
            <a:gdLst/>
            <a:ahLst/>
            <a:cxnLst/>
            <a:rect r="r" b="b" t="t" l="l"/>
            <a:pathLst>
              <a:path h="0" w="1178560">
                <a:moveTo>
                  <a:pt x="1178560" y="0"/>
                </a:moveTo>
                <a:lnTo>
                  <a:pt x="1117600" y="0"/>
                </a:lnTo>
                <a:moveTo>
                  <a:pt x="1066800" y="0"/>
                </a:moveTo>
                <a:lnTo>
                  <a:pt x="1005840" y="0"/>
                </a:lnTo>
                <a:moveTo>
                  <a:pt x="955040" y="0"/>
                </a:moveTo>
                <a:lnTo>
                  <a:pt x="894080" y="0"/>
                </a:lnTo>
                <a:moveTo>
                  <a:pt x="843280" y="0"/>
                </a:moveTo>
                <a:lnTo>
                  <a:pt x="782320" y="0"/>
                </a:lnTo>
                <a:moveTo>
                  <a:pt x="731520" y="0"/>
                </a:moveTo>
                <a:lnTo>
                  <a:pt x="670560" y="0"/>
                </a:lnTo>
                <a:moveTo>
                  <a:pt x="619760" y="0"/>
                </a:moveTo>
                <a:lnTo>
                  <a:pt x="558800" y="0"/>
                </a:lnTo>
                <a:moveTo>
                  <a:pt x="508000" y="0"/>
                </a:moveTo>
                <a:lnTo>
                  <a:pt x="447040" y="0"/>
                </a:lnTo>
                <a:moveTo>
                  <a:pt x="396240" y="0"/>
                </a:moveTo>
                <a:lnTo>
                  <a:pt x="335280" y="0"/>
                </a:lnTo>
                <a:moveTo>
                  <a:pt x="284480" y="0"/>
                </a:moveTo>
                <a:lnTo>
                  <a:pt x="223520" y="0"/>
                </a:lnTo>
                <a:moveTo>
                  <a:pt x="172720" y="0"/>
                </a:moveTo>
                <a:lnTo>
                  <a:pt x="111760" y="0"/>
                </a:lnTo>
                <a:moveTo>
                  <a:pt x="60960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mpd="sng" cap="flat">
            <a:solidFill>
              <a:srgbClr val="C9A227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4" id="54"/>
          <p:cNvSpPr/>
          <p:nvPr/>
        </p:nvSpPr>
        <p:spPr>
          <a:xfrm rot="0" flipH="false" flipV="false">
            <a:off x="2433701" y="3840480"/>
            <a:ext cx="91440" cy="91440"/>
          </a:xfrm>
          <a:custGeom>
            <a:avLst/>
            <a:gdLst/>
            <a:ahLst/>
            <a:cxnLst/>
            <a:rect r="r" b="b" t="t" l="l"/>
            <a:pathLst>
              <a:path h="91440" w="91440">
                <a:moveTo>
                  <a:pt x="91440" y="91440"/>
                </a:moveTo>
                <a:lnTo>
                  <a:pt x="0" y="45720"/>
                </a:lnTo>
                <a:lnTo>
                  <a:pt x="91440" y="0"/>
                </a:lnTo>
                <a:close/>
              </a:path>
            </a:pathLst>
          </a:custGeom>
          <a:solidFill>
            <a:srgbClr val="C9A227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 txBox="true"/>
          <p:nvPr/>
        </p:nvSpPr>
        <p:spPr>
          <a:xfrm rot="0" flipH="false" flipV="false">
            <a:off x="3505200" y="5414010"/>
            <a:ext cx="4564380" cy="15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494"/>
                </a:solidFill>
                <a:latin typeface="Noto Sans SC"/>
                <a:ea typeface="Noto Sans SC"/>
                <a:cs typeface="Noto Sans SC"/>
                <a:sym typeface="Noto Sans SC"/>
              </a:rPr>
              <a:t>实线：指令流水主通路 虚线：旁路转发 / 分支预测反馈 / 停顿控制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关键设计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冒险处理与分支预测：正确性优先的流水线优化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879600"/>
            <a:ext cx="3683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设计原则</a:t>
            </a: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以正确性为第一优先级，再做性能优化：所有优化机制均在官方测试集与 CoreMark 回归下验证。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数据冒险：全旁路转发（EX / MEM / WB 三级前送），Load-Use 冲突仅插入单周期停顿。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控制冒险：分支在 EX 段解析，配合 IF 段预测，错误预测代价为两周期冲洗。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724400" y="1879600"/>
          <a:ext cx="6705600" cy="3073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048000"/>
                <a:gridCol w="1752600"/>
              </a:tblGrid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效果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数据冒险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全旁路转发 + Load-Use 单周期停顿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常用序列零气泡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分支预测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2-bit 饱和计数 + BTB 128 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misp 降 67%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JAL 链接值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WB 段写回 pc+4，EX 段旁路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call 返回地址正确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双重提交抑制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IF 侧 pc 内容比对，抑制 dup_fetch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预测开启全 PASS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4724400" y="5130800"/>
            <a:ext cx="67056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调试要点：预测开启后曾出现指令双重提交导致 rvtest 3 项失败，通过 IF 段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519D78"/>
                </a:solidFill>
                <a:latin typeface="Noto Serif SC"/>
                <a:ea typeface="Noto Serif SC"/>
                <a:cs typeface="Noto Serif SC"/>
                <a:sym typeface="Noto Serif SC"/>
              </a:rPr>
              <a:t>pc 内容比对 + valid 抑制</a:t>
            </a:r>
            <a:r>
              <a:rPr lang="en-US" b="false" i="false" strike="noStrike" u="none" sz="14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（v0.15 内容比对方案）闭环，回归 175 条用例全绿。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验证与结果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官方测试集与 CoreMark：功能与性能双闭环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6350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数据来源：本项目 Vivado 2019.1 仿真 log · 时钟频率 100 MHz 折算 · 周期数为硬件周期计数器实测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90625" y="2426462"/>
            <a:ext cx="4946650" cy="2190877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1295400" y="2067560"/>
            <a:ext cx="2374900" cy="2095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5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迭代周期 (10^6 cycles)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1061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0.5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062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1.0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7063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1.5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5064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2.0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3065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2.5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1066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3.0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906770" y="46888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3.5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1210" y="440817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1.1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91210" y="399923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1.2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1210" y="359029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91210" y="318008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1.4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91210" y="277114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1.5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1210" y="2362200"/>
            <a:ext cx="37719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50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1.6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3223260" y="4970780"/>
            <a:ext cx="943610" cy="2095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52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优化版本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63600" y="5331460"/>
            <a:ext cx="2599690" cy="1320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43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本项目仿真 log：v0.10 / v0.15 / v0.15.2</a:t>
            </a:r>
            <a:endParaRPr lang="en-US" sz="1100"/>
          </a:p>
        </p:txBody>
      </p: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6756400" y="1905000"/>
          <a:ext cx="46736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219200"/>
                <a:gridCol w="1930400"/>
              </a:tblGrid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63A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riscv-tests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40/42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 项 SKIP（fence.i / ma_data）有明确理由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CoreMark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1,153,090 cycles，CRC 校验全对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matmul 3x3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8,503 cycles，结果校验正确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qsort 8 元素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871 cycles，排序结果校验正确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回归测试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19D7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175/175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8263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每轮改动后全量回归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上板与性能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Zynq-7020 上板成功，性能贴近单发射结构极限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6350000" y="1879600"/>
            <a:ext cx="5080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上板验证</a:t>
            </a:r>
            <a:r>
              <a:rPr lang="en-US" b="false" i="false" strike="noStrike" u="none" sz="15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：AC7021B（xc7z020clg484-1）USB 直连烧录，LED 闪烁程序两次上板成功。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资源占用</a:t>
            </a:r>
            <a:r>
              <a:rPr lang="en-US" b="false" i="false" strike="noStrike" u="none" sz="15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：4141 Slice LUT（7.8%）、8256 FF、4 BRAM，满足小于 5K LUT；50 MHz 约束综合 WNS=0.886。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350000" y="38100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性能论证</a:t>
            </a:r>
            <a:r>
              <a:rPr lang="en-US" b="false" i="false" strike="noStrike" u="none" sz="15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：赛题 250 次/秒以 100 MHz 为例，对应每迭代 400,000 cycles，折算 IPC 需大于 1.75。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单发射 RV32I 五级流水线 IPC 上限为 1.0，本设计实测 778,462 条指令 / 1,153,090 cycles，IPC 0.67。</a:t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519D78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</a:t>
            </a:r>
            <a:r>
              <a:rPr lang="en-US" b="false" i="false" strike="noStrike" u="none" sz="15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：250 次/秒需超标量架构，单发射设计数学上不可达；本设计已逼近单发射极限并拿满其余评分项。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64008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口径：单次迭代 1,153,090 cycles；100 MHz 折算每秒 86.7 次，取 90；单发射 IPC 上限 1.0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226183" y="2831973"/>
            <a:ext cx="3013075" cy="1811020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rot="0" flipH="false" flipV="false">
            <a:off x="2267458" y="2969006"/>
            <a:ext cx="1054989" cy="360045"/>
          </a:xfrm>
          <a:custGeom>
            <a:avLst/>
            <a:gdLst/>
            <a:ahLst/>
            <a:cxnLst/>
            <a:rect r="r" b="b" t="t" l="l"/>
            <a:pathLst>
              <a:path h="360045" w="1054989">
                <a:moveTo>
                  <a:pt x="0" y="0"/>
                </a:moveTo>
                <a:lnTo>
                  <a:pt x="1054989" y="0"/>
                </a:lnTo>
                <a:lnTo>
                  <a:pt x="1054989" y="360045"/>
                </a:lnTo>
                <a:lnTo>
                  <a:pt x="0" y="360045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2267458" y="3524631"/>
            <a:ext cx="1500378" cy="360045"/>
          </a:xfrm>
          <a:custGeom>
            <a:avLst/>
            <a:gdLst/>
            <a:ahLst/>
            <a:cxnLst/>
            <a:rect r="r" b="b" t="t" l="l"/>
            <a:pathLst>
              <a:path h="360045" w="1500378">
                <a:moveTo>
                  <a:pt x="0" y="0"/>
                </a:moveTo>
                <a:lnTo>
                  <a:pt x="1500378" y="0"/>
                </a:lnTo>
                <a:lnTo>
                  <a:pt x="1500378" y="360045"/>
                </a:lnTo>
                <a:lnTo>
                  <a:pt x="0" y="360045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2267458" y="4080256"/>
            <a:ext cx="2930525" cy="360045"/>
          </a:xfrm>
          <a:custGeom>
            <a:avLst/>
            <a:gdLst/>
            <a:ahLst/>
            <a:cxnLst/>
            <a:rect r="r" b="b" t="t" l="l"/>
            <a:pathLst>
              <a:path h="360045" w="2930525">
                <a:moveTo>
                  <a:pt x="0" y="0"/>
                </a:moveTo>
                <a:lnTo>
                  <a:pt x="2930525" y="0"/>
                </a:lnTo>
                <a:lnTo>
                  <a:pt x="2930525" y="360045"/>
                </a:lnTo>
                <a:lnTo>
                  <a:pt x="0" y="360045"/>
                </a:lnTo>
                <a:close/>
              </a:path>
            </a:pathLst>
          </a:custGeom>
          <a:solidFill>
            <a:srgbClr val="5385BD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66800" y="5237480"/>
            <a:ext cx="184912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本项目仿真折算 / 赛题评分标准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266950" y="2321560"/>
            <a:ext cx="1954530" cy="19812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1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CoreMark 迭代 / 秒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167890" y="4707890"/>
            <a:ext cx="19812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700020" y="4707890"/>
            <a:ext cx="30607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50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3232150" y="470789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3818890" y="470789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150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4404360" y="470789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200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4991100" y="470789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250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3411220" y="3059430"/>
            <a:ext cx="30607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90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3856990" y="361442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128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287010" y="4170680"/>
            <a:ext cx="41529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250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303020" y="3025140"/>
            <a:ext cx="81153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当前实现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122680" y="3581400"/>
            <a:ext cx="99187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单发射上限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303020" y="4136390"/>
            <a:ext cx="811530" cy="1803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419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赛题目标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806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457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总结与展望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66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总结：全流程自研交付，评分项覆盖完成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905000"/>
            <a:ext cx="5334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已交付</a:t>
            </a: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RV32I 指令集全集，自研汇编器与链接工具链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五级流水线 + 全旁路 + 2-bit 分支预测 + BTB 128 项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riscv-tests 40/42、CoreMark PASS、matmul / qsort 通过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4141 LUT（&lt;5K）、4 BRAM，Zynq-7020 上板验证成功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设计文档、仿真报告、答辩演示全套交付</a:t>
            </a:r>
          </a:p>
        </p:txBody>
      </p:sp>
      <p:cxnSp>
        <p:nvCxnSpPr>
          <p:cNvPr name="Connector 6" id="6"/>
          <p:cNvCxnSpPr/>
          <p:nvPr/>
        </p:nvCxnSpPr>
        <p:spPr>
          <a:xfrm rot="5389257" flipH="false" flipV="false">
            <a:off x="4318000" y="3930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D8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6858000" y="1905000"/>
            <a:ext cx="4572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826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展望</a:t>
            </a: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双发射 / 超标量：突破 IPC 1.0 结构上限，逼近赛题 250 次/秒折算口径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M 扩展：硬件乘除，减少软件库调用开销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UART 输出：CoreMark 完整跑分结果直接上板打印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69788C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更低资源：进一步压缩 LUT，适配更多目标板卡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